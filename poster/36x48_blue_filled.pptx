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43891200" cy="32918400"/>
  <p:notesSz cx="6858000" cy="9144000"/>
  <p:embeddedFontLst>
    <p:embeddedFont>
      <p:font typeface="Arial MT Pro" panose="020B0502020202020204" pitchFamily="34" charset="77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nva Sans" panose="020B0503030501040103" pitchFamily="34" charset="0"/>
      <p:regular r:id="rId8"/>
    </p:embeddedFont>
    <p:embeddedFont>
      <p:font typeface="League Spartan" pitchFamily="2" charset="77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25" d="100"/>
          <a:sy n="25" d="100"/>
        </p:scale>
        <p:origin x="1928" y="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font" Target="fonts/font6.fntdata"/><Relationship Id="rId9" Type="http://schemas.openxmlformats.org/officeDocument/2006/relationships/font" Target="fonts/font7.fntdata"/><Relationship Id="rId10" Type="http://schemas.openxmlformats.org/officeDocument/2006/relationships/font" Target="fonts/font8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2069" y="-29120"/>
            <a:ext cx="43963269" cy="5939212"/>
            <a:chOff x="0" y="0"/>
            <a:chExt cx="5601010" cy="699545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5601010" cy="699545"/>
            </a:xfrm>
            <a:custGeom>
              <a:avLst/>
              <a:gdLst/>
              <a:ahLst/>
              <a:cxnLst/>
              <a:rect l="l" t="t" r="r" b="b"/>
              <a:pathLst>
                <a:path w="5601010" h="699545">
                  <a:moveTo>
                    <a:pt x="0" y="0"/>
                  </a:moveTo>
                  <a:lnTo>
                    <a:pt x="5601010" y="0"/>
                  </a:lnTo>
                  <a:lnTo>
                    <a:pt x="5601010" y="699545"/>
                  </a:lnTo>
                  <a:lnTo>
                    <a:pt x="0" y="699545"/>
                  </a:lnTo>
                  <a:close/>
                </a:path>
              </a:pathLst>
            </a:custGeom>
            <a:solidFill>
              <a:srgbClr val="011F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5601010" cy="794795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ctr">
                <a:lnSpc>
                  <a:spcPts val="67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72070" y="5011471"/>
            <a:ext cx="43963270" cy="5159008"/>
            <a:chOff x="0" y="0"/>
            <a:chExt cx="5010041" cy="566146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5010041" cy="566146"/>
            </a:xfrm>
            <a:custGeom>
              <a:avLst/>
              <a:gdLst/>
              <a:ahLst/>
              <a:cxnLst/>
              <a:rect l="l" t="t" r="r" b="b"/>
              <a:pathLst>
                <a:path w="5010041" h="566146">
                  <a:moveTo>
                    <a:pt x="10175" y="0"/>
                  </a:moveTo>
                  <a:lnTo>
                    <a:pt x="4999867" y="0"/>
                  </a:lnTo>
                  <a:cubicBezTo>
                    <a:pt x="5002565" y="0"/>
                    <a:pt x="5005153" y="1072"/>
                    <a:pt x="5007061" y="2980"/>
                  </a:cubicBezTo>
                  <a:cubicBezTo>
                    <a:pt x="5008969" y="4888"/>
                    <a:pt x="5010041" y="7476"/>
                    <a:pt x="5010041" y="10175"/>
                  </a:cubicBezTo>
                  <a:lnTo>
                    <a:pt x="5010041" y="555972"/>
                  </a:lnTo>
                  <a:cubicBezTo>
                    <a:pt x="5010041" y="561591"/>
                    <a:pt x="5005486" y="566146"/>
                    <a:pt x="4999867" y="566146"/>
                  </a:cubicBezTo>
                  <a:lnTo>
                    <a:pt x="10175" y="566146"/>
                  </a:lnTo>
                  <a:cubicBezTo>
                    <a:pt x="4555" y="566146"/>
                    <a:pt x="0" y="561591"/>
                    <a:pt x="0" y="555972"/>
                  </a:cubicBezTo>
                  <a:lnTo>
                    <a:pt x="0" y="10175"/>
                  </a:lnTo>
                  <a:cubicBezTo>
                    <a:pt x="0" y="4555"/>
                    <a:pt x="4555" y="0"/>
                    <a:pt x="10175" y="0"/>
                  </a:cubicBezTo>
                  <a:close/>
                </a:path>
              </a:pathLst>
            </a:custGeom>
            <a:solidFill>
              <a:srgbClr val="83AC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5010041" cy="661396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l">
                <a:lnSpc>
                  <a:spcPts val="67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089113" y="10501845"/>
            <a:ext cx="12802087" cy="21921104"/>
            <a:chOff x="0" y="0"/>
            <a:chExt cx="1512323" cy="2405608"/>
          </a:xfrm>
        </p:grpSpPr>
        <p:sp>
          <p:nvSpPr>
            <p:cNvPr id="9" name="Freeform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512323" cy="2405608"/>
            </a:xfrm>
            <a:custGeom>
              <a:avLst/>
              <a:gdLst/>
              <a:ahLst/>
              <a:cxnLst/>
              <a:rect l="l" t="t" r="r" b="b"/>
              <a:pathLst>
                <a:path w="1512323" h="2405608">
                  <a:moveTo>
                    <a:pt x="33707" y="0"/>
                  </a:moveTo>
                  <a:lnTo>
                    <a:pt x="1478616" y="0"/>
                  </a:lnTo>
                  <a:cubicBezTo>
                    <a:pt x="1497231" y="0"/>
                    <a:pt x="1512323" y="15091"/>
                    <a:pt x="1512323" y="33707"/>
                  </a:cubicBezTo>
                  <a:lnTo>
                    <a:pt x="1512323" y="2371901"/>
                  </a:lnTo>
                  <a:cubicBezTo>
                    <a:pt x="1512323" y="2380841"/>
                    <a:pt x="1508771" y="2389414"/>
                    <a:pt x="1502450" y="2395736"/>
                  </a:cubicBezTo>
                  <a:cubicBezTo>
                    <a:pt x="1496129" y="2402057"/>
                    <a:pt x="1487555" y="2405608"/>
                    <a:pt x="1478616" y="2405608"/>
                  </a:cubicBezTo>
                  <a:lnTo>
                    <a:pt x="33707" y="2405608"/>
                  </a:lnTo>
                  <a:cubicBezTo>
                    <a:pt x="15091" y="2405608"/>
                    <a:pt x="0" y="2390517"/>
                    <a:pt x="0" y="2371901"/>
                  </a:cubicBezTo>
                  <a:lnTo>
                    <a:pt x="0" y="33707"/>
                  </a:lnTo>
                  <a:cubicBezTo>
                    <a:pt x="0" y="15091"/>
                    <a:pt x="15091" y="0"/>
                    <a:pt x="33707" y="0"/>
                  </a:cubicBezTo>
                  <a:close/>
                </a:path>
              </a:pathLst>
            </a:custGeom>
            <a:solidFill>
              <a:srgbClr val="83ACFF">
                <a:alpha val="1882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512323" cy="2500858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ctr">
                <a:lnSpc>
                  <a:spcPts val="67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9187660" y="27283970"/>
            <a:ext cx="3987708" cy="3977738"/>
            <a:chOff x="0" y="0"/>
            <a:chExt cx="5316944" cy="53036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16944" cy="5303651"/>
            </a:xfrm>
            <a:custGeom>
              <a:avLst/>
              <a:gdLst/>
              <a:ahLst/>
              <a:cxnLst/>
              <a:rect l="l" t="t" r="r" b="b"/>
              <a:pathLst>
                <a:path w="5316944" h="5303651">
                  <a:moveTo>
                    <a:pt x="0" y="0"/>
                  </a:moveTo>
                  <a:lnTo>
                    <a:pt x="5316944" y="0"/>
                  </a:lnTo>
                  <a:lnTo>
                    <a:pt x="5316944" y="5303651"/>
                  </a:lnTo>
                  <a:lnTo>
                    <a:pt x="0" y="5303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1249116" y="1709158"/>
              <a:ext cx="2818712" cy="1809135"/>
            </a:xfrm>
            <a:prstGeom prst="rect">
              <a:avLst/>
            </a:prstGeom>
          </p:spPr>
          <p:txBody>
            <a:bodyPr lIns="0" tIns="0" rIns="0" bIns="0" rtlCol="0" anchor="ctr" wrap="square">
              <a:spAutoFit/>
            </a:bodyPr>
            <a:lstStyle/>
            <a:p>
              <a:pPr algn="ctr">
                <a:lnSpc>
                  <a:spcPts val="5515"/>
                </a:lnSpc>
              </a:pPr>
              <a:r>
                <a:rPr sz="2200" b="0">
                  <a:solidFill>
                    <a:srgbClr val="111111"/>
                  </a:solidFill>
                  <a:latin typeface="Canva Sans"/>
                </a:rPr>
                <a:t>Full</a:t>
              </a:r>
            </a:p>
            <a:p>
              <a:pPr algn="ctr"/>
              <a:r>
                <a:rPr sz="2200" b="0">
                  <a:solidFill>
                    <a:srgbClr val="111111"/>
                  </a:solidFill>
                  <a:latin typeface="Canva Sans"/>
                </a:rPr>
                <a:t>analysis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32521434" y="28342591"/>
            <a:ext cx="934213" cy="934213"/>
          </a:xfrm>
          <a:custGeom>
            <a:avLst/>
            <a:gdLst/>
            <a:ahLst/>
            <a:cxnLst/>
            <a:rect l="l" t="t" r="r" b="b"/>
            <a:pathLst>
              <a:path w="934213" h="934213">
                <a:moveTo>
                  <a:pt x="0" y="0"/>
                </a:moveTo>
                <a:lnTo>
                  <a:pt x="934214" y="0"/>
                </a:lnTo>
                <a:lnTo>
                  <a:pt x="934214" y="934213"/>
                </a:lnTo>
                <a:lnTo>
                  <a:pt x="0" y="934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2464131" y="29558589"/>
            <a:ext cx="1134289" cy="1163373"/>
          </a:xfrm>
          <a:custGeom>
            <a:avLst/>
            <a:gdLst/>
            <a:ahLst/>
            <a:cxnLst/>
            <a:rect l="l" t="t" r="r" b="b"/>
            <a:pathLst>
              <a:path w="1134289" h="1163373">
                <a:moveTo>
                  <a:pt x="0" y="0"/>
                </a:moveTo>
                <a:lnTo>
                  <a:pt x="1134289" y="0"/>
                </a:lnTo>
                <a:lnTo>
                  <a:pt x="1134289" y="1163373"/>
                </a:lnTo>
                <a:lnTo>
                  <a:pt x="0" y="11633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-72071" y="8645972"/>
            <a:ext cx="43963271" cy="1493924"/>
            <a:chOff x="0" y="0"/>
            <a:chExt cx="5043856" cy="163942"/>
          </a:xfrm>
        </p:grpSpPr>
        <p:sp>
          <p:nvSpPr>
            <p:cNvPr id="21" name="Freeform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5043856" cy="163942"/>
            </a:xfrm>
            <a:custGeom>
              <a:avLst/>
              <a:gdLst/>
              <a:ahLst/>
              <a:cxnLst/>
              <a:rect l="l" t="t" r="r" b="b"/>
              <a:pathLst>
                <a:path w="5043856" h="163942">
                  <a:moveTo>
                    <a:pt x="10106" y="0"/>
                  </a:moveTo>
                  <a:lnTo>
                    <a:pt x="5033749" y="0"/>
                  </a:lnTo>
                  <a:cubicBezTo>
                    <a:pt x="5039331" y="0"/>
                    <a:pt x="5043856" y="4525"/>
                    <a:pt x="5043856" y="10106"/>
                  </a:cubicBezTo>
                  <a:lnTo>
                    <a:pt x="5043856" y="153836"/>
                  </a:lnTo>
                  <a:cubicBezTo>
                    <a:pt x="5043856" y="156516"/>
                    <a:pt x="5042791" y="159087"/>
                    <a:pt x="5040895" y="160982"/>
                  </a:cubicBezTo>
                  <a:cubicBezTo>
                    <a:pt x="5039000" y="162877"/>
                    <a:pt x="5036430" y="163942"/>
                    <a:pt x="5033749" y="163942"/>
                  </a:cubicBezTo>
                  <a:lnTo>
                    <a:pt x="10106" y="163942"/>
                  </a:lnTo>
                  <a:cubicBezTo>
                    <a:pt x="4525" y="163942"/>
                    <a:pt x="0" y="159417"/>
                    <a:pt x="0" y="153836"/>
                  </a:cubicBezTo>
                  <a:lnTo>
                    <a:pt x="0" y="10106"/>
                  </a:lnTo>
                  <a:cubicBezTo>
                    <a:pt x="0" y="4525"/>
                    <a:pt x="4525" y="0"/>
                    <a:pt x="10106" y="0"/>
                  </a:cubicBezTo>
                  <a:close/>
                </a:path>
              </a:pathLst>
            </a:custGeom>
            <a:solidFill>
              <a:srgbClr val="9DBE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0"/>
              <a:ext cx="5043856" cy="259192"/>
            </a:xfrm>
            <a:prstGeom prst="rect">
              <a:avLst/>
            </a:prstGeom>
          </p:spPr>
          <p:txBody>
            <a:bodyPr lIns="76200" tIns="76200" rIns="76200" bIns="76200" rtlCol="0" anchor="ctr"/>
            <a:lstStyle/>
            <a:p>
              <a:pPr algn="l">
                <a:lnSpc>
                  <a:spcPts val="67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0050384" y="5380119"/>
            <a:ext cx="2918266" cy="2910971"/>
            <a:chOff x="0" y="0"/>
            <a:chExt cx="3891022" cy="38812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91022" cy="3881294"/>
            </a:xfrm>
            <a:custGeom>
              <a:avLst/>
              <a:gdLst/>
              <a:ahLst/>
              <a:cxnLst/>
              <a:rect l="l" t="t" r="r" b="b"/>
              <a:pathLst>
                <a:path w="3891022" h="3881294">
                  <a:moveTo>
                    <a:pt x="0" y="0"/>
                  </a:moveTo>
                  <a:lnTo>
                    <a:pt x="3891022" y="0"/>
                  </a:lnTo>
                  <a:lnTo>
                    <a:pt x="3891022" y="3881294"/>
                  </a:lnTo>
                  <a:lnTo>
                    <a:pt x="0" y="3881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914122" y="1249403"/>
              <a:ext cx="2062777" cy="1325339"/>
            </a:xfrm>
            <a:prstGeom prst="rect">
              <a:avLst/>
            </a:prstGeom>
          </p:spPr>
          <p:txBody>
            <a:bodyPr lIns="0" tIns="0" rIns="0" bIns="0" rtlCol="0" anchor="ctr" wrap="square">
              <a:spAutoFit/>
            </a:bodyPr>
            <a:lstStyle/>
            <a:p>
              <a:pPr algn="ctr">
                <a:lnSpc>
                  <a:spcPts val="4036"/>
                </a:lnSpc>
              </a:pPr>
              <a:r>
                <a:rPr sz="1800" b="0">
                  <a:solidFill>
                    <a:srgbClr val="111111"/>
                  </a:solidFill>
                  <a:latin typeface="Canva Sans"/>
                </a:rPr>
                <a:t>Code +</a:t>
              </a:r>
            </a:p>
            <a:p>
              <a:pPr algn="ctr"/>
              <a:r>
                <a:rPr sz="1800" b="0">
                  <a:solidFill>
                    <a:srgbClr val="111111"/>
                  </a:solidFill>
                  <a:latin typeface="Canva Sans"/>
                </a:rPr>
                <a:t>data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-72071" y="-43825"/>
            <a:ext cx="43963268" cy="5059904"/>
          </a:xfrm>
          <a:custGeom>
            <a:avLst/>
            <a:gdLst/>
            <a:ahLst/>
            <a:cxnLst/>
            <a:rect l="l" t="t" r="r" b="b"/>
            <a:pathLst>
              <a:path w="43963268" h="5011471">
                <a:moveTo>
                  <a:pt x="0" y="0"/>
                </a:moveTo>
                <a:lnTo>
                  <a:pt x="43963268" y="0"/>
                </a:lnTo>
                <a:lnTo>
                  <a:pt x="43963268" y="5011471"/>
                </a:lnTo>
                <a:lnTo>
                  <a:pt x="0" y="50114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9687" b="-392738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8095953" y="718571"/>
            <a:ext cx="5024943" cy="5043857"/>
          </a:xfrm>
          <a:custGeom>
            <a:avLst/>
            <a:gdLst/>
            <a:ahLst/>
            <a:cxnLst/>
            <a:rect l="l" t="t" r="r" b="b"/>
            <a:pathLst>
              <a:path w="5024943" h="5043857">
                <a:moveTo>
                  <a:pt x="0" y="0"/>
                </a:moveTo>
                <a:lnTo>
                  <a:pt x="5024942" y="0"/>
                </a:lnTo>
                <a:lnTo>
                  <a:pt x="5024942" y="5043857"/>
                </a:lnTo>
                <a:lnTo>
                  <a:pt x="0" y="50438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39227042" y="1908471"/>
            <a:ext cx="2595903" cy="2955336"/>
          </a:xfrm>
          <a:custGeom>
            <a:avLst/>
            <a:gdLst/>
            <a:ahLst/>
            <a:cxnLst/>
            <a:rect l="l" t="t" r="r" b="b"/>
            <a:pathLst>
              <a:path w="2595903" h="2955336">
                <a:moveTo>
                  <a:pt x="0" y="0"/>
                </a:moveTo>
                <a:lnTo>
                  <a:pt x="2595903" y="0"/>
                </a:lnTo>
                <a:lnTo>
                  <a:pt x="2595903" y="2955336"/>
                </a:lnTo>
                <a:lnTo>
                  <a:pt x="0" y="29553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8083059" y="5434477"/>
            <a:ext cx="9051425" cy="2611755"/>
          </a:xfrm>
          <a:prstGeom prst="rect">
            <a:avLst/>
          </a:prstGeom>
        </p:spPr>
        <p:txBody>
          <a:bodyPr lIns="0" tIns="0" rIns="0" bIns="0" rtlCol="0" anchor="ctr" wrap="square">
            <a:spAutoFit/>
          </a:bodyPr>
          <a:lstStyle/>
          <a:p>
            <a:pPr algn="ctr">
              <a:lnSpc>
                <a:spcPts val="6720"/>
              </a:lnSpc>
            </a:pPr>
            <a:r>
              <a:rPr sz="1900" b="0">
                <a:solidFill>
                  <a:srgbClr val="FFFFFF"/>
                </a:solidFill>
                <a:latin typeface="Arial MT Pro"/>
              </a:rPr>
              <a:t>Proposal-guided takeaway: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Arial MT Pro"/>
              </a:rPr>
              <a:t>3D eDRAM is the strongest active design at 32 nm, 2D eDRAM keeps the best leakage,</a:t>
            </a:r>
          </a:p>
          <a:p>
            <a:pPr algn="ctr"/>
            <a:r>
              <a:rPr sz="1900" b="0">
                <a:solidFill>
                  <a:srgbClr val="FFFFFF"/>
                </a:solidFill>
                <a:latin typeface="Arial MT Pro"/>
              </a:rPr>
              <a:t>and TSV assumptions do not materially change the 2 MB cache conclusion.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5196" y="11284903"/>
            <a:ext cx="8778240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11F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15196" y="22730772"/>
            <a:ext cx="8778240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11F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089113" y="26462915"/>
            <a:ext cx="8778240" cy="821055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6720"/>
              </a:lnSpc>
            </a:pPr>
            <a:r>
              <a:rPr sz="2400" b="0">
                <a:solidFill>
                  <a:srgbClr val="011F5B"/>
                </a:solidFill>
                <a:latin typeface="League Spartan"/>
              </a:rPr>
              <a:t>Project Links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713813" y="10922001"/>
            <a:ext cx="8778240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11F5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147000" y="28393455"/>
            <a:ext cx="4345335" cy="68961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5040"/>
              </a:lnSpc>
            </a:pPr>
            <a:r>
              <a:rPr sz="1800" b="0">
                <a:solidFill>
                  <a:srgbClr val="011F5B"/>
                </a:solidFill>
                <a:latin typeface="Arial MT Pro"/>
              </a:rPr>
              <a:t>GitHub repository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147000" y="29724033"/>
            <a:ext cx="2413695" cy="68961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ctr">
              <a:lnSpc>
                <a:spcPts val="5040"/>
              </a:lnSpc>
            </a:pPr>
            <a:r>
              <a:rPr sz="1800" b="0">
                <a:solidFill>
                  <a:srgbClr val="011F5B"/>
                </a:solidFill>
                <a:latin typeface="Arial MT Pro"/>
              </a:rPr>
              <a:t>Analysis + plots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988541" y="11915458"/>
            <a:ext cx="9051425" cy="1764030"/>
          </a:xfrm>
          <a:prstGeom prst="rect">
            <a:avLst/>
          </a:prstGeom>
        </p:spPr>
        <p:txBody>
          <a:bodyPr lIns="0" tIns="0" rIns="0" bIns="0" rtlCol="0" anchor="ctr" wrap="square">
            <a:spAutoFit/>
          </a:bodyPr>
          <a:lstStyle/>
          <a:p>
            <a:pPr algn="ctr">
              <a:lnSpc>
                <a:spcPts val="6720"/>
              </a:lnSpc>
            </a:pPr>
            <a:r>
              <a:rPr sz="1800" b="0">
                <a:solidFill>
                  <a:srgbClr val="011F5B"/>
                </a:solidFill>
                <a:latin typeface="Arial MT Pro"/>
              </a:rPr>
              <a:t>Poster scope follows the proposal:</a:t>
            </a:r>
          </a:p>
          <a:p>
            <a:pPr algn="ctr"/>
            <a:r>
              <a:rPr sz="1800" b="0">
                <a:solidFill>
                  <a:srgbClr val="011F5B"/>
                </a:solidFill>
                <a:latin typeface="Arial MT Pro"/>
              </a:rPr>
              <a:t>fixed-capacity comparison, node scaling, and 2D/3D + TSV robustness.</a:t>
            </a:r>
          </a:p>
          <a:p>
            <a:pPr algn="ctr"/>
            <a:r>
              <a:rPr sz="1800" b="0">
                <a:solidFill>
                  <a:srgbClr val="011F5B"/>
                </a:solidFill>
                <a:latin typeface="Arial MT Pro"/>
              </a:rPr>
              <a:t>We emphasize stable trends and call out optimizer-driven anomalies separately.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9649" y="5273186"/>
            <a:ext cx="4339530" cy="63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Takeaways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9649" y="8998945"/>
            <a:ext cx="5239048" cy="63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Acknowledgements: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761517" y="14791056"/>
            <a:ext cx="3694509" cy="2933071"/>
          </a:xfrm>
          <a:prstGeom prst="rect">
            <a:avLst/>
          </a:prstGeom>
        </p:spPr>
        <p:txBody>
          <a:bodyPr lIns="0" tIns="0" rIns="0" bIns="0" rtlCol="0" anchor="ctr" wrap="square">
            <a:spAutoFit/>
          </a:bodyPr>
          <a:lstStyle/>
          <a:p>
            <a:pPr algn="ctr">
              <a:lnSpc>
                <a:spcPts val="21559"/>
              </a:lnSpc>
            </a:pPr>
            <a:r>
              <a:rPr sz="3400" b="0">
                <a:solidFill>
                  <a:srgbClr val="FFFFFF"/>
                </a:solidFill>
                <a:latin typeface="Arial MT Pro"/>
              </a:rPr>
              <a:t>Comparative Analysis of</a:t>
            </a:r>
          </a:p>
          <a:p>
            <a:pPr algn="ctr"/>
            <a:r>
              <a:rPr sz="3400" b="0">
                <a:solidFill>
                  <a:srgbClr val="FFFFFF"/>
                </a:solidFill>
                <a:latin typeface="Arial MT Pro"/>
              </a:rPr>
              <a:t>2D/3D SRAM and eDRAM</a:t>
            </a:r>
          </a:p>
          <a:p>
            <a:pPr algn="ctr"/>
            <a:r>
              <a:rPr sz="3400" b="0">
                <a:solidFill>
                  <a:srgbClr val="FFFFFF"/>
                </a:solidFill>
                <a:latin typeface="Arial MT Pro"/>
              </a:rPr>
              <a:t>Using DESTINY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0761517" y="19429102"/>
            <a:ext cx="3142804" cy="1369695"/>
          </a:xfrm>
          <a:prstGeom prst="rect">
            <a:avLst/>
          </a:prstGeom>
        </p:spPr>
        <p:txBody>
          <a:bodyPr lIns="0" tIns="0" rIns="0" bIns="0" rtlCol="0" anchor="ctr" wrap="square">
            <a:spAutoFit/>
          </a:bodyPr>
          <a:lstStyle/>
          <a:p>
            <a:pPr algn="ctr">
              <a:lnSpc>
                <a:spcPts val="10080"/>
              </a:lnSpc>
            </a:pPr>
            <a:r>
              <a:rPr sz="2200" b="0">
                <a:solidFill>
                  <a:srgbClr val="FFFFFF"/>
                </a:solidFill>
                <a:latin typeface="Arial MT Pro"/>
              </a:rPr>
              <a:t>Tiebing Tang  •  Yishu Wang  •  Zhengyu Liu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00" y="5900000"/>
            <a:ext cx="12800000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 MT Pro"/>
              </a:rPr>
              <a:t>• 3D eDRAM is best at 32 nm: 1.068 mm^2, 0.472 ns, 0.061 nJ/access.</a:t>
            </a:r>
          </a:p>
          <a:p>
            <a:pPr algn="l"/>
            <a:r>
              <a:rPr sz="1700" b="0">
                <a:solidFill>
                  <a:srgbClr val="111111"/>
                </a:solidFill>
                <a:latin typeface="Arial MT Pro"/>
              </a:rPr>
              <a:t>• 2D eDRAM gives the lowest leakage: 30.0 mW at 32 nm.</a:t>
            </a:r>
          </a:p>
          <a:p>
            <a:pPr algn="l"/>
            <a:r>
              <a:rPr sz="1700" b="0">
                <a:solidFill>
                  <a:srgbClr val="111111"/>
                </a:solidFill>
                <a:latin typeface="Arial MT Pro"/>
              </a:rPr>
              <a:t>• 3D SRAM cuts area by about 40-50% versus 2D SRAM across nodes.</a:t>
            </a:r>
          </a:p>
          <a:p>
            <a:pPr algn="l"/>
            <a:r>
              <a:rPr sz="1700" b="0">
                <a:solidFill>
                  <a:srgbClr val="111111"/>
                </a:solidFill>
                <a:latin typeface="Arial MT Pro"/>
              </a:rPr>
              <a:t>• TSV sweeps change area by at most 5.5% and leave read latency unchanged.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000" y="9500000"/>
            <a:ext cx="128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Arial MT Pro"/>
              </a:rPr>
              <a:t>DESTINY simulator, ESE5760 course staff, and prior 3D-memory literature were used for</a:t>
            </a:r>
          </a:p>
          <a:p>
            <a:pPr algn="l"/>
            <a:r>
              <a:rPr sz="1500" b="0">
                <a:solidFill>
                  <a:srgbClr val="111111"/>
                </a:solidFill>
                <a:latin typeface="Arial MT Pro"/>
              </a:rPr>
              <a:t>baseline validation, sanity checks, and interpretation of anomaly cases.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000" y="12200000"/>
            <a:ext cx="13200000" cy="8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Arial MT Pro"/>
              </a:rPr>
              <a:t>The proposal asked which technology trends remain stable when process node and 3D assumptions change in DESTINY.</a:t>
            </a:r>
          </a:p>
          <a:p>
            <a:pPr algn="l"/>
            <a:r>
              <a:rPr sz="1800" b="0">
                <a:solidFill>
                  <a:srgbClr val="111111"/>
                </a:solidFill>
                <a:latin typeface="Arial MT Pro"/>
              </a:rPr>
              <a:t>This poster narrows the final scope to the configurations that were both reliable and interpretable in simulation: 2D SRAM, 3D SRAM, 2D eDRAM, and 3D eDRAM.</a:t>
            </a:r>
          </a:p>
          <a:p>
            <a:pPr algn="l"/>
            <a:r>
              <a:rPr sz="1800" b="0">
                <a:solidFill>
                  <a:srgbClr val="111111"/>
                </a:solidFill>
                <a:latin typeface="Arial MT Pro"/>
              </a:rPr>
              <a:t>Our goal is not one perfect design point, but a robust comparison of what really changes with scaling, stacking, and TSV assumptions.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000" y="24150000"/>
            <a:ext cx="13200000" cy="6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11111"/>
                </a:solidFill>
                <a:latin typeface="Arial MT Pro"/>
              </a:rPr>
              <a:t>Baseline: 2 MB cache, 256-bit word width, 1-way associativity, LOP roadmap, 350 K, and WriteEDP optimization.</a:t>
            </a:r>
          </a:p>
          <a:p>
            <a:pPr algn="l"/>
            <a:r>
              <a:rPr sz="1800" b="0">
                <a:solidFill>
                  <a:srgbClr val="111111"/>
                </a:solidFill>
                <a:latin typeface="Arial MT Pro"/>
              </a:rPr>
              <a:t>Experiment 1 sweeps four technologies across 65 nm, 45 nm, 32 nm, and 22 nm (16 runs total).</a:t>
            </a:r>
          </a:p>
          <a:p>
            <a:pPr algn="l"/>
            <a:r>
              <a:rPr sz="1800" b="0">
                <a:solidFill>
                  <a:srgbClr val="111111"/>
                </a:solidFill>
                <a:latin typeface="Arial MT Pro"/>
              </a:rPr>
              <a:t>Experiment 2 fixes 3D SRAM at 32 nm and sweeps LocalTSVProjection, GlobalTSVProjection, and TSVRedundancy.</a:t>
            </a:r>
          </a:p>
          <a:p>
            <a:pPr algn="l"/>
            <a:r>
              <a:rPr sz="1800" b="0">
                <a:solidFill>
                  <a:srgbClr val="111111"/>
                </a:solidFill>
                <a:latin typeface="Arial MT Pro"/>
              </a:rPr>
              <a:t>Metrics: total area, read latency, write latency, write dynamic energy, and leakage power.</a:t>
            </a:r>
          </a:p>
        </p:txBody>
      </p:sp>
      <p:pic>
        <p:nvPicPr>
          <p:cNvPr id="48" name="Picture 47" descr="fig3_total_area_vs_no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00000" y="12150000"/>
            <a:ext cx="7600000" cy="2350000"/>
          </a:xfrm>
          <a:prstGeom prst="rect">
            <a:avLst/>
          </a:prstGeom>
        </p:spPr>
      </p:pic>
      <p:pic>
        <p:nvPicPr>
          <p:cNvPr id="49" name="Picture 48" descr="fig1_read_latency_vs_nod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300000" y="12150000"/>
            <a:ext cx="7600000" cy="2350000"/>
          </a:xfrm>
          <a:prstGeom prst="rect">
            <a:avLst/>
          </a:prstGeom>
        </p:spPr>
      </p:pic>
      <p:pic>
        <p:nvPicPr>
          <p:cNvPr id="50" name="Picture 49" descr="fig4_leakage_power_vs_nod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00000" y="21450000"/>
            <a:ext cx="7900000" cy="4300000"/>
          </a:xfrm>
          <a:prstGeom prst="rect">
            <a:avLst/>
          </a:prstGeom>
        </p:spPr>
      </p:pic>
      <p:pic>
        <p:nvPicPr>
          <p:cNvPr id="51" name="Picture 50" descr="fig5_tsv_sensitivity_are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500000" y="21450000"/>
            <a:ext cx="7900000" cy="4300000"/>
          </a:xfrm>
          <a:prstGeom prst="rect">
            <a:avLst/>
          </a:prstGeom>
        </p:spPr>
      </p:pic>
      <p:pic>
        <p:nvPicPr>
          <p:cNvPr id="52" name="Picture 51" descr="scorecard_32n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095953" y="718571"/>
            <a:ext cx="5024943" cy="5043857"/>
          </a:xfrm>
          <a:prstGeom prst="rect">
            <a:avLst/>
          </a:prstGeom>
        </p:spPr>
      </p:pic>
      <p:pic>
        <p:nvPicPr>
          <p:cNvPr id="53" name="Picture 52" descr="repo_q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050384" y="5380119"/>
            <a:ext cx="2918266" cy="2910971"/>
          </a:xfrm>
          <a:prstGeom prst="rect">
            <a:avLst/>
          </a:prstGeom>
        </p:spPr>
      </p:pic>
      <p:pic>
        <p:nvPicPr>
          <p:cNvPr id="54" name="Picture 53" descr="analysis_q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187660" y="27283970"/>
            <a:ext cx="3987708" cy="3977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Canva Sans</vt:lpstr>
      <vt:lpstr>Arial</vt:lpstr>
      <vt:lpstr>League Spartan</vt:lpstr>
      <vt:lpstr>Calibri</vt:lpstr>
      <vt:lpstr>Arial MT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Research Poster in Teal Simple Style</dc:title>
  <cp:lastModifiedBy>Farrell, Audrey Lynn</cp:lastModifiedBy>
  <cp:revision>2</cp:revision>
  <dcterms:created xsi:type="dcterms:W3CDTF">2006-08-16T00:00:00Z</dcterms:created>
  <dcterms:modified xsi:type="dcterms:W3CDTF">2026-01-08T23:08:00Z</dcterms:modified>
  <dc:identifier>DAG7t0200EA</dc:identifier>
</cp:coreProperties>
</file>