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9144000" cy="6858000"/>
  <p:defaultTextStyle>
    <a:defPPr>
      <a:defRPr lang="en-US"/>
    </a:defPPr>
    <a:lvl1pPr marL="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219456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9741" autoAdjust="0"/>
  </p:normalViewPr>
  <p:slideViewPr>
    <p:cSldViewPr snapToGrid="0" snapToObjects="1">
      <p:cViewPr varScale="1">
        <p:scale>
          <a:sx n="23" d="100"/>
          <a:sy n="23" d="100"/>
        </p:scale>
        <p:origin x="1404" y="60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5A93E9-08CE-5846-AE29-C9A2010B8487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5DAA5-FAA5-B145-92CC-ABE87913B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08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219456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08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095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226"/>
            <a:ext cx="37307520" cy="7200898"/>
          </a:xfr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89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30843" y="36865561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704643" y="36865561"/>
            <a:ext cx="94442280" cy="10427970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87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1" y="7368543"/>
            <a:ext cx="19392903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1" y="10439401"/>
            <a:ext cx="19392903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3" y="7368543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3" y="10439401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8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12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58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3" cy="5577840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4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4"/>
            <a:ext cx="14439903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08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3" y="23042881"/>
            <a:ext cx="26334720" cy="2720342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3" y="2941320"/>
            <a:ext cx="26334720" cy="19751040"/>
          </a:xfrm>
        </p:spPr>
        <p:txBody>
          <a:bodyPr/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3" y="25763223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569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092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2742905" y="6324601"/>
            <a:ext cx="47404019" cy="1348206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0843" y="6324601"/>
            <a:ext cx="141480543" cy="1348206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22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318262"/>
            <a:ext cx="39502080" cy="54864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680964"/>
            <a:ext cx="39502080" cy="21724622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EEA01-B6EC-6145-B703-C84289B9E7D9}" type="datetimeFigureOut">
              <a:rPr lang="en-US" smtClean="0"/>
              <a:pPr/>
              <a:t>8/23/2016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30510482"/>
            <a:ext cx="138988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30510482"/>
            <a:ext cx="1024128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D80CC-B886-5F4C-A902-6E81BC4F90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0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194560" rtl="0" eaLnBrk="1" latinLnBrk="0" hangingPunct="1">
        <a:spcBef>
          <a:spcPct val="0"/>
        </a:spcBef>
        <a:buNone/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0" indent="-1645920" algn="l" defTabSz="2194560" rtl="0" eaLnBrk="1" latinLnBrk="0" hangingPunct="1">
        <a:spcBef>
          <a:spcPct val="20000"/>
        </a:spcBef>
        <a:buFont typeface="Arial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160" indent="-1371600" algn="l" defTabSz="2194560" rtl="0" eaLnBrk="1" latinLnBrk="0" hangingPunct="1">
        <a:spcBef>
          <a:spcPct val="20000"/>
        </a:spcBef>
        <a:buFont typeface="Arial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2194560" rtl="0" eaLnBrk="1" latinLnBrk="0" hangingPunct="1">
        <a:spcBef>
          <a:spcPct val="20000"/>
        </a:spcBef>
        <a:buFont typeface="Arial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2194560" rtl="0" eaLnBrk="1" latinLnBrk="0" hangingPunct="1">
        <a:spcBef>
          <a:spcPct val="20000"/>
        </a:spcBef>
        <a:buFont typeface="Arial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2194560" rtl="0" eaLnBrk="1" latinLnBrk="0" hangingPunct="1">
        <a:spcBef>
          <a:spcPct val="20000"/>
        </a:spcBef>
        <a:buFont typeface="Arial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2194560" rtl="0" eaLnBrk="1" latinLnBrk="0" hangingPunct="1">
        <a:spcBef>
          <a:spcPct val="200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219456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enn_Blue_Gradient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44145183" cy="33172351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66316" y="6262432"/>
            <a:ext cx="12909475" cy="25944769"/>
          </a:xfrm>
          <a:prstGeom prst="rect">
            <a:avLst/>
          </a:prstGeom>
          <a:solidFill>
            <a:srgbClr val="FFFFFF"/>
          </a:solidFill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419601" y="1080831"/>
            <a:ext cx="35102800" cy="3784876"/>
          </a:xfrm>
          <a:prstGeom prst="rect">
            <a:avLst/>
          </a:prstGeom>
          <a:solidFill>
            <a:srgbClr val="FFFFFF"/>
          </a:solidFill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5519397" y="6262432"/>
            <a:ext cx="12909475" cy="25944769"/>
          </a:xfrm>
          <a:prstGeom prst="rect">
            <a:avLst/>
          </a:prstGeom>
          <a:solidFill>
            <a:srgbClr val="FFFFFF"/>
          </a:solidFill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20" name="Rectangle 19"/>
          <p:cNvSpPr/>
          <p:nvPr/>
        </p:nvSpPr>
        <p:spPr>
          <a:xfrm>
            <a:off x="30167605" y="6262432"/>
            <a:ext cx="12909475" cy="25944769"/>
          </a:xfrm>
          <a:prstGeom prst="rect">
            <a:avLst/>
          </a:prstGeom>
          <a:solidFill>
            <a:srgbClr val="FFFFFF"/>
          </a:solidFill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-6959600" y="16459200"/>
            <a:ext cx="184666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3271481" y="7137155"/>
            <a:ext cx="79949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latin typeface="Arial"/>
                <a:cs typeface="Arial"/>
              </a:rPr>
              <a:t>Things to Keep in Mind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969419" y="19328256"/>
            <a:ext cx="6306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latin typeface="Arial"/>
                <a:cs typeface="Arial"/>
              </a:rPr>
              <a:t>Formatting</a:t>
            </a:r>
            <a:endParaRPr lang="en-US" sz="5400" b="1" dirty="0">
              <a:latin typeface="Arial"/>
              <a:cs typeface="Arial"/>
            </a:endParaRPr>
          </a:p>
        </p:txBody>
      </p:sp>
      <p:pic>
        <p:nvPicPr>
          <p:cNvPr id="43" name="Picture 42" descr="chloroplastsfigure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435" y="14090168"/>
            <a:ext cx="4737100" cy="4419600"/>
          </a:xfrm>
          <a:prstGeom prst="rect">
            <a:avLst/>
          </a:prstGeom>
        </p:spPr>
      </p:pic>
      <p:pic>
        <p:nvPicPr>
          <p:cNvPr id="47" name="Picture 46" descr="images.jpe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735" y="15539112"/>
            <a:ext cx="2641600" cy="2425700"/>
          </a:xfrm>
          <a:prstGeom prst="rect">
            <a:avLst/>
          </a:prstGeom>
        </p:spPr>
      </p:pic>
      <p:pic>
        <p:nvPicPr>
          <p:cNvPr id="48" name="Picture 47" descr="images (1).jpe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419" y="25240911"/>
            <a:ext cx="6080344" cy="5585771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858433" y="1386007"/>
            <a:ext cx="3608636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600" dirty="0">
                <a:latin typeface="Arial"/>
                <a:cs typeface="Arial"/>
              </a:rPr>
              <a:t>Title which simply addresses the nature of the </a:t>
            </a:r>
            <a:r>
              <a:rPr lang="en-US" sz="7600" dirty="0" smtClean="0">
                <a:latin typeface="Arial"/>
                <a:cs typeface="Arial"/>
              </a:rPr>
              <a:t>research </a:t>
            </a:r>
            <a:r>
              <a:rPr lang="en-US" sz="7600" dirty="0">
                <a:latin typeface="Arial"/>
                <a:cs typeface="Arial"/>
              </a:rPr>
              <a:t>presented in the poster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038176" y="2743285"/>
            <a:ext cx="2006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latin typeface="Arial"/>
                <a:cs typeface="Arial"/>
              </a:rPr>
              <a:t>Names of those who were involved with this body of work</a:t>
            </a:r>
            <a:endParaRPr lang="en-US" sz="4800" dirty="0">
              <a:latin typeface="Arial"/>
              <a:cs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825273" y="3574282"/>
            <a:ext cx="24548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latin typeface="Arial"/>
                <a:cs typeface="Arial"/>
              </a:rPr>
              <a:t>Contact information provided here to reach the authors of this body of research</a:t>
            </a:r>
            <a:endParaRPr lang="en-US" sz="4800" dirty="0">
              <a:latin typeface="Arial"/>
              <a:cs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696814" y="18298524"/>
            <a:ext cx="604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Arial"/>
                <a:cs typeface="Arial"/>
              </a:rPr>
              <a:t>18 Font Tex for Captions of Images/Charts/Graphs/Etc.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301783" y="7586690"/>
            <a:ext cx="11906577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 smtClean="0"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latin typeface="Arial"/>
                <a:cs typeface="Arial"/>
              </a:rPr>
              <a:t>The poster is supposed to be a snapshot of months (or years) worth of research, data collection, analysis, etc. Don’t try to put every detail on one page!</a:t>
            </a: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latin typeface="Arial"/>
                <a:cs typeface="Arial"/>
              </a:rPr>
              <a:t>Pull out the main components of research, including charts, images, slides, graphs or whatever it is you need to really get the main point(s) across to the reader.</a:t>
            </a: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latin typeface="Arial"/>
                <a:cs typeface="Arial"/>
              </a:rPr>
              <a:t>Cramming the poster full of text does 2 things:</a:t>
            </a:r>
          </a:p>
          <a:p>
            <a:r>
              <a:rPr lang="en-US" sz="2800" dirty="0" smtClean="0">
                <a:latin typeface="Arial"/>
                <a:cs typeface="Arial"/>
              </a:rPr>
              <a:t>                </a:t>
            </a:r>
          </a:p>
          <a:p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                 1- Makes people skip over your hard work</a:t>
            </a:r>
          </a:p>
          <a:p>
            <a:r>
              <a:rPr lang="en-US" sz="2800" dirty="0" smtClean="0">
                <a:latin typeface="Arial"/>
                <a:cs typeface="Arial"/>
              </a:rPr>
              <a:t>                  </a:t>
            </a:r>
          </a:p>
          <a:p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                 2- Slows down the ability for those engaged in </a:t>
            </a:r>
          </a:p>
          <a:p>
            <a:r>
              <a:rPr lang="en-US" sz="2800" dirty="0" smtClean="0">
                <a:latin typeface="Arial"/>
                <a:cs typeface="Arial"/>
              </a:rPr>
              <a:t>                       your work to access the main points, and </a:t>
            </a:r>
          </a:p>
          <a:p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                      understand the research quickly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01783" y="20482977"/>
            <a:ext cx="1190657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USING ONLY CAPITAL LETTERS MAKES READING DIFFICULT</a:t>
            </a:r>
          </a:p>
          <a:p>
            <a:pPr marL="457200" indent="-457200">
              <a:buFont typeface="Arial"/>
              <a:buChar char="•"/>
            </a:pPr>
            <a:endParaRPr lang="en-US" sz="28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High contrasting colors are better and easier to follow</a:t>
            </a:r>
          </a:p>
          <a:p>
            <a:pPr marL="457200" indent="-457200">
              <a:buFont typeface="Arial"/>
              <a:buChar char="•"/>
            </a:pPr>
            <a:endParaRPr lang="en-US" sz="28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Consistency in Font, text size for headings, body, captions, etc.</a:t>
            </a:r>
          </a:p>
          <a:p>
            <a:endParaRPr lang="en-US" sz="28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Stick with a non-serif based fonts (i.e. </a:t>
            </a:r>
            <a:r>
              <a:rPr lang="en-US" sz="2800" smtClean="0">
                <a:solidFill>
                  <a:srgbClr val="000000"/>
                </a:solidFill>
                <a:latin typeface="Arial"/>
                <a:cs typeface="Arial"/>
              </a:rPr>
              <a:t>Arial)</a:t>
            </a:r>
            <a:endParaRPr lang="en-US" sz="28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Organize information moving from top to bottom,  across the columns in your poster.</a:t>
            </a:r>
            <a:endParaRPr lang="en-US" sz="28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809783" y="31075868"/>
            <a:ext cx="898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olidFill>
                  <a:srgbClr val="000000"/>
                </a:solidFill>
                <a:latin typeface="Arial"/>
                <a:cs typeface="Arial"/>
              </a:rPr>
              <a:t>Using</a:t>
            </a:r>
            <a:r>
              <a:rPr lang="en-US" sz="1800" dirty="0" smtClean="0">
                <a:solidFill>
                  <a:srgbClr val="000000"/>
                </a:solidFill>
              </a:rPr>
              <a:t> a caption to describe an image can be more productive than a paragraph.</a:t>
            </a: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8803081" y="7137155"/>
            <a:ext cx="6306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latin typeface="Arial"/>
                <a:cs typeface="Arial"/>
              </a:rPr>
              <a:t>Images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8739018" y="12887888"/>
            <a:ext cx="6306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latin typeface="Arial"/>
                <a:cs typeface="Arial"/>
              </a:rPr>
              <a:t>Logos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5925797" y="7586580"/>
            <a:ext cx="12065003" cy="5078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Try to use images with a resolution of 150 dpi</a:t>
            </a:r>
          </a:p>
          <a:p>
            <a:endParaRPr lang="en-US" sz="28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/>
                <a:cs typeface="Arial"/>
              </a:rPr>
              <a:t>Do not use screen shot images (if possible) in the poster, they tend to be fuzzy when printed at poster size</a:t>
            </a:r>
          </a:p>
          <a:p>
            <a:endParaRPr lang="en-US" sz="28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When putting images into a poster, please don’t copy and paste!! Instead, go to</a:t>
            </a:r>
          </a:p>
          <a:p>
            <a:r>
              <a:rPr lang="en-US" sz="2800" dirty="0" smtClean="0">
                <a:solidFill>
                  <a:schemeClr val="bg1"/>
                </a:solidFill>
                <a:latin typeface="Arial"/>
                <a:cs typeface="Arial"/>
              </a:rPr>
              <a:t>               </a:t>
            </a:r>
            <a:r>
              <a:rPr lang="en-US" sz="2800" dirty="0" smtClean="0">
                <a:solidFill>
                  <a:srgbClr val="FF0000"/>
                </a:solidFill>
                <a:latin typeface="Arial"/>
                <a:cs typeface="Arial"/>
              </a:rPr>
              <a:t>                  </a:t>
            </a:r>
            <a:r>
              <a:rPr lang="en-US" sz="3600" dirty="0" smtClean="0">
                <a:solidFill>
                  <a:srgbClr val="FF0000"/>
                </a:solidFill>
                <a:latin typeface="Arial"/>
                <a:cs typeface="Arial"/>
              </a:rPr>
              <a:t>Insert&gt;Photo&gt;Picture From File </a:t>
            </a:r>
          </a:p>
          <a:p>
            <a:r>
              <a:rPr lang="en-US" sz="36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3600" dirty="0" smtClean="0">
                <a:solidFill>
                  <a:srgbClr val="000000"/>
                </a:solidFill>
                <a:latin typeface="Arial"/>
                <a:cs typeface="Arial"/>
              </a:rPr>
              <a:t>    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this will help you to manage this document easier without slowing it </a:t>
            </a:r>
          </a:p>
          <a:p>
            <a:r>
              <a:rPr lang="en-US" sz="2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     down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925797" y="14333945"/>
            <a:ext cx="120650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 smtClean="0">
                <a:latin typeface="Arial"/>
                <a:cs typeface="Arial"/>
              </a:rPr>
              <a:t>There are no logos in this template. If you want to add a Penn, CHOP, </a:t>
            </a:r>
            <a:r>
              <a:rPr lang="en-US" sz="2800" dirty="0" err="1" smtClean="0">
                <a:latin typeface="Arial"/>
                <a:cs typeface="Arial"/>
              </a:rPr>
              <a:t>PennMedicine</a:t>
            </a:r>
            <a:r>
              <a:rPr lang="en-US" sz="2800" dirty="0" smtClean="0">
                <a:latin typeface="Arial"/>
                <a:cs typeface="Arial"/>
              </a:rPr>
              <a:t>, </a:t>
            </a:r>
            <a:r>
              <a:rPr lang="en-US" sz="2800" dirty="0" err="1" smtClean="0">
                <a:latin typeface="Arial"/>
                <a:cs typeface="Arial"/>
              </a:rPr>
              <a:t>PennVet</a:t>
            </a:r>
            <a:r>
              <a:rPr lang="en-US" sz="2800" dirty="0" smtClean="0">
                <a:latin typeface="Arial"/>
                <a:cs typeface="Arial"/>
              </a:rPr>
              <a:t>, </a:t>
            </a:r>
            <a:r>
              <a:rPr lang="en-US" sz="2800" dirty="0" err="1" smtClean="0">
                <a:latin typeface="Arial"/>
                <a:cs typeface="Arial"/>
              </a:rPr>
              <a:t>Upenn’s</a:t>
            </a:r>
            <a:r>
              <a:rPr lang="en-US" sz="2800" dirty="0" smtClean="0">
                <a:latin typeface="Arial"/>
                <a:cs typeface="Arial"/>
              </a:rPr>
              <a:t> Shield, etc. logo please ask us to add it when you visit the Poster Printing Lab! </a:t>
            </a:r>
          </a:p>
          <a:p>
            <a:pPr marL="457200" indent="-457200">
              <a:buFont typeface="Arial"/>
              <a:buChar char="•"/>
            </a:pPr>
            <a:endParaRPr lang="en-US" sz="2800" dirty="0" smtClean="0"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latin typeface="Arial"/>
                <a:cs typeface="Arial"/>
              </a:rPr>
              <a:t>We want to ensure that your poster receives the right type of logo image file to produce a high resolution, high quality print.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875417" y="20569265"/>
            <a:ext cx="82551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latin typeface="Arial"/>
                <a:cs typeface="Arial"/>
              </a:rPr>
              <a:t>PowerPoint to PDF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5925797" y="21842922"/>
            <a:ext cx="12032630" cy="9694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To save this document as a PDF, go to </a:t>
            </a:r>
          </a:p>
          <a:p>
            <a:r>
              <a:rPr lang="en-US" sz="3600" dirty="0" smtClean="0">
                <a:solidFill>
                  <a:srgbClr val="000000"/>
                </a:solidFill>
                <a:latin typeface="Arial"/>
                <a:cs typeface="Arial"/>
              </a:rPr>
              <a:t>                                           </a:t>
            </a:r>
            <a:r>
              <a:rPr lang="en-US" sz="3600" dirty="0" smtClean="0">
                <a:solidFill>
                  <a:srgbClr val="FF0000"/>
                </a:solidFill>
                <a:latin typeface="Arial"/>
                <a:cs typeface="Arial"/>
              </a:rPr>
              <a:t>File&gt;Print</a:t>
            </a:r>
            <a:r>
              <a:rPr lang="en-US" sz="280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endParaRPr lang="en-US" sz="2800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      At the bottom left hand corner, there is a button,</a:t>
            </a:r>
            <a:r>
              <a:rPr lang="en-US" sz="3600" dirty="0" smtClean="0">
                <a:solidFill>
                  <a:srgbClr val="000000"/>
                </a:solidFill>
                <a:latin typeface="Arial"/>
                <a:cs typeface="Arial"/>
              </a:rPr>
              <a:t>    </a:t>
            </a:r>
          </a:p>
          <a:p>
            <a:r>
              <a:rPr lang="en-US" sz="36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3600" dirty="0" smtClean="0">
                <a:solidFill>
                  <a:srgbClr val="000000"/>
                </a:solidFill>
                <a:latin typeface="Arial"/>
                <a:cs typeface="Arial"/>
              </a:rPr>
              <a:t>                                           </a:t>
            </a:r>
            <a:r>
              <a:rPr lang="en-US" sz="3600" dirty="0" smtClean="0">
                <a:solidFill>
                  <a:srgbClr val="FF0000"/>
                </a:solidFill>
                <a:latin typeface="Arial"/>
                <a:cs typeface="Arial"/>
              </a:rPr>
              <a:t>  “PDF”</a:t>
            </a:r>
          </a:p>
          <a:p>
            <a:r>
              <a:rPr lang="en-US" sz="2800" smtClean="0">
                <a:solidFill>
                  <a:srgbClr val="000000"/>
                </a:solidFill>
                <a:latin typeface="Arial"/>
                <a:cs typeface="Arial"/>
              </a:rPr>
              <a:t>      — click 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on this button and scroll to:</a:t>
            </a:r>
          </a:p>
          <a:p>
            <a:r>
              <a:rPr lang="en-US" sz="2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                    </a:t>
            </a:r>
            <a:r>
              <a:rPr lang="en-US" sz="2800" dirty="0" smtClean="0">
                <a:solidFill>
                  <a:srgbClr val="FF0000"/>
                </a:solidFill>
                <a:latin typeface="Arial"/>
                <a:cs typeface="Arial"/>
              </a:rPr>
              <a:t>                             </a:t>
            </a:r>
            <a:r>
              <a:rPr lang="en-US" sz="3600" dirty="0" smtClean="0">
                <a:solidFill>
                  <a:srgbClr val="FF0000"/>
                </a:solidFill>
                <a:latin typeface="Arial"/>
                <a:cs typeface="Arial"/>
              </a:rPr>
              <a:t>“Save as PDF…”</a:t>
            </a:r>
          </a:p>
          <a:p>
            <a:endParaRPr lang="en-US" sz="36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Open your PDF after creating the file to make sure the poster is not cut off. If it is, go to:</a:t>
            </a:r>
          </a:p>
          <a:p>
            <a:r>
              <a:rPr lang="en-US" sz="2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                                                   </a:t>
            </a:r>
            <a:r>
              <a:rPr lang="en-US" sz="2800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3600" dirty="0" smtClean="0">
                <a:solidFill>
                  <a:srgbClr val="FF0000"/>
                </a:solidFill>
                <a:latin typeface="Arial"/>
                <a:cs typeface="Arial"/>
              </a:rPr>
              <a:t>File&gt;Print</a:t>
            </a:r>
            <a:r>
              <a:rPr lang="en-US" sz="2800" dirty="0" smtClean="0">
                <a:solidFill>
                  <a:srgbClr val="FF0000"/>
                </a:solidFill>
                <a:latin typeface="Arial"/>
                <a:cs typeface="Arial"/>
              </a:rPr>
              <a:t>, </a:t>
            </a:r>
          </a:p>
          <a:p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      and click the                       </a:t>
            </a:r>
            <a:r>
              <a:rPr lang="en-US" sz="3600" dirty="0" smtClean="0">
                <a:solidFill>
                  <a:srgbClr val="FF0000"/>
                </a:solidFill>
                <a:latin typeface="Arial"/>
                <a:cs typeface="Arial"/>
              </a:rPr>
              <a:t>“Page Setup” </a:t>
            </a:r>
          </a:p>
          <a:p>
            <a:r>
              <a:rPr lang="en-US" sz="36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3600" dirty="0" smtClean="0">
                <a:solidFill>
                  <a:srgbClr val="000000"/>
                </a:solidFill>
                <a:latin typeface="Arial"/>
                <a:cs typeface="Arial"/>
              </a:rPr>
              <a:t>    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button above the </a:t>
            </a:r>
            <a:r>
              <a:rPr lang="en-US" sz="3600" dirty="0" smtClean="0">
                <a:solidFill>
                  <a:srgbClr val="FF0000"/>
                </a:solidFill>
                <a:latin typeface="Arial"/>
                <a:cs typeface="Arial"/>
              </a:rPr>
              <a:t>“PDF” 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button. Check to see that  </a:t>
            </a:r>
          </a:p>
          <a:p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      the size and orientation are the same as the poster</a:t>
            </a:r>
          </a:p>
          <a:p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      you have been working on.</a:t>
            </a:r>
          </a:p>
          <a:p>
            <a:endParaRPr lang="en-US" sz="28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Even if you have already have made your PDF document before coming to your appointment, it is always good to bring the PowerPoint file as a backup in case there are any issues.</a:t>
            </a:r>
          </a:p>
          <a:p>
            <a:endParaRPr lang="en-US" sz="28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Still having problems? We can help you out 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  <a:sym typeface="Wingdings"/>
              </a:rPr>
              <a:t></a:t>
            </a:r>
            <a:endParaRPr lang="en-US" sz="2800" dirty="0" smtClean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2835882" y="7137155"/>
            <a:ext cx="75501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latin typeface="Arial"/>
                <a:cs typeface="Arial"/>
              </a:rPr>
              <a:t>Fluorescent Colors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3229019" y="15997535"/>
            <a:ext cx="6306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latin typeface="Arial"/>
                <a:cs typeface="Arial"/>
              </a:rPr>
              <a:t>Before Coming In</a:t>
            </a:r>
            <a:endParaRPr lang="en-US" sz="5400" b="1" dirty="0">
              <a:latin typeface="Arial"/>
              <a:cs typeface="Arial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3381419" y="26480022"/>
            <a:ext cx="6820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latin typeface="Arial"/>
                <a:cs typeface="Arial"/>
              </a:rPr>
              <a:t>Basic Print Tips</a:t>
            </a:r>
            <a:endParaRPr lang="en-US" sz="5400" b="1" dirty="0">
              <a:latin typeface="Arial"/>
              <a:cs typeface="Arial"/>
            </a:endParaRPr>
          </a:p>
        </p:txBody>
      </p:sp>
      <p:pic>
        <p:nvPicPr>
          <p:cNvPr id="74" name="Picture 73" descr="2 Smilax root cortex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7419" y="10831938"/>
            <a:ext cx="7074056" cy="4707174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30731976" y="8060485"/>
            <a:ext cx="11838424" cy="4093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Be aware that fluorescent colors will print darker than they seem in your document.</a:t>
            </a:r>
          </a:p>
          <a:p>
            <a:pPr marL="457200" indent="-457200">
              <a:buFont typeface="Arial"/>
              <a:buChar char="•"/>
            </a:pPr>
            <a:endParaRPr lang="en-US" sz="28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If you really need an image to stand out, avoid fluorescent colors (Dark Blue, Dark Purple on Black) because the details may not</a:t>
            </a:r>
          </a:p>
          <a:p>
            <a:r>
              <a:rPr lang="en-US" sz="2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     show up as you need them to appear.</a:t>
            </a:r>
          </a:p>
          <a:p>
            <a:endParaRPr lang="en-US" sz="28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endParaRPr lang="en-US" sz="28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sz="36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0746704" y="17105906"/>
            <a:ext cx="12032630" cy="9140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Schedule an appointment online with us at:</a:t>
            </a:r>
            <a:endParaRPr lang="en-US" sz="28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endParaRPr lang="en-US" sz="28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Make sure your appointment is scheduled </a:t>
            </a:r>
            <a:r>
              <a:rPr lang="en-US" sz="2800" dirty="0">
                <a:solidFill>
                  <a:srgbClr val="000000"/>
                </a:solidFill>
                <a:latin typeface="Arial"/>
                <a:cs typeface="Arial"/>
              </a:rPr>
              <a:t>with enough time ahead of your 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deadline</a:t>
            </a:r>
            <a:r>
              <a:rPr lang="en-US" sz="2800" dirty="0">
                <a:solidFill>
                  <a:srgbClr val="000000"/>
                </a:solidFill>
                <a:latin typeface="Arial"/>
                <a:cs typeface="Arial"/>
              </a:rPr>
              <a:t>!</a:t>
            </a:r>
            <a:endParaRPr lang="en-US" sz="28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sz="28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Bring your method of payment; we accept VISA, </a:t>
            </a:r>
            <a:r>
              <a:rPr lang="en-US" sz="2800" dirty="0" err="1" smtClean="0">
                <a:solidFill>
                  <a:srgbClr val="000000"/>
                </a:solidFill>
                <a:latin typeface="Arial"/>
                <a:cs typeface="Arial"/>
              </a:rPr>
              <a:t>Mastercard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, </a:t>
            </a:r>
            <a:r>
              <a:rPr lang="en-US" sz="2800" dirty="0" err="1" smtClean="0">
                <a:solidFill>
                  <a:srgbClr val="000000"/>
                </a:solidFill>
                <a:latin typeface="Arial"/>
                <a:cs typeface="Arial"/>
              </a:rPr>
              <a:t>PennCash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, Departmental Copy Cards and Departmental Account Numbers.</a:t>
            </a:r>
          </a:p>
          <a:p>
            <a:r>
              <a:rPr lang="en-US" sz="2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                    </a:t>
            </a:r>
          </a:p>
          <a:p>
            <a:r>
              <a:rPr lang="en-US" sz="2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                       ***</a:t>
            </a:r>
            <a:r>
              <a:rPr lang="en-US" sz="2800" i="1" u="sng" dirty="0" smtClean="0">
                <a:solidFill>
                  <a:srgbClr val="000000"/>
                </a:solidFill>
                <a:latin typeface="Arial"/>
                <a:cs typeface="Arial"/>
              </a:rPr>
              <a:t>We DO NOT accept cash</a:t>
            </a:r>
            <a:r>
              <a:rPr lang="en-US" sz="2800" u="sng" dirty="0" smtClean="0">
                <a:solidFill>
                  <a:srgbClr val="000000"/>
                </a:solidFill>
                <a:latin typeface="Arial"/>
                <a:cs typeface="Arial"/>
              </a:rPr>
              <a:t>.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*</a:t>
            </a:r>
            <a:r>
              <a:rPr lang="en-US" sz="2800" i="1" dirty="0" smtClean="0">
                <a:solidFill>
                  <a:srgbClr val="000000"/>
                </a:solidFill>
                <a:latin typeface="Arial"/>
                <a:cs typeface="Arial"/>
              </a:rPr>
              <a:t>**</a:t>
            </a:r>
          </a:p>
          <a:p>
            <a:endParaRPr lang="en-US" sz="2800" i="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Don’t forget your poster! Bring a backup method as well in case your file will not open (USB, CD, External Hard Drives, email to yourself, etc.)</a:t>
            </a:r>
          </a:p>
          <a:p>
            <a:endParaRPr lang="en-US" sz="28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Most Importantly!!!</a:t>
            </a:r>
          </a:p>
          <a:p>
            <a:r>
              <a:rPr lang="en-US" sz="2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     Be aware that as this time, we do NOT offer any sort of</a:t>
            </a:r>
          </a:p>
          <a:p>
            <a:r>
              <a:rPr lang="en-US" sz="2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     design services for your poster. Come prepared with   </a:t>
            </a:r>
          </a:p>
          <a:p>
            <a:r>
              <a:rPr lang="en-US" sz="2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     the document you wish to print, we are glad to help  </a:t>
            </a:r>
          </a:p>
          <a:p>
            <a:r>
              <a:rPr lang="en-US" sz="28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</a:rPr>
              <a:t>     with any minor details </a:t>
            </a:r>
            <a:r>
              <a:rPr lang="en-US" sz="2800" dirty="0" smtClean="0">
                <a:solidFill>
                  <a:srgbClr val="000000"/>
                </a:solidFill>
                <a:latin typeface="Arial"/>
                <a:cs typeface="Arial"/>
                <a:sym typeface="Wingdings"/>
              </a:rPr>
              <a:t></a:t>
            </a:r>
            <a:endParaRPr lang="en-US" sz="2800" dirty="0" smtClean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2004001" y="17664119"/>
            <a:ext cx="10159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"/>
                <a:cs typeface="Times"/>
              </a:rPr>
              <a:t>http://</a:t>
            </a:r>
            <a:r>
              <a:rPr lang="en-US" sz="2800" dirty="0" err="1">
                <a:solidFill>
                  <a:srgbClr val="FF0000"/>
                </a:solidFill>
                <a:latin typeface="Times"/>
                <a:cs typeface="Times"/>
              </a:rPr>
              <a:t>www.library.upenn.edu</a:t>
            </a:r>
            <a:r>
              <a:rPr lang="en-US" sz="2800" dirty="0">
                <a:solidFill>
                  <a:srgbClr val="FF0000"/>
                </a:solidFill>
                <a:latin typeface="Times"/>
                <a:cs typeface="Times"/>
              </a:rPr>
              <a:t>/forms/biomed/</a:t>
            </a:r>
            <a:r>
              <a:rPr lang="en-US" sz="2800" dirty="0" err="1">
                <a:solidFill>
                  <a:srgbClr val="FF0000"/>
                </a:solidFill>
                <a:latin typeface="Times"/>
                <a:cs typeface="Times"/>
              </a:rPr>
              <a:t>posterprinting.html</a:t>
            </a:r>
            <a:endParaRPr lang="en-US" sz="2800" dirty="0">
              <a:solidFill>
                <a:srgbClr val="FF0000"/>
              </a:solidFill>
              <a:latin typeface="Times"/>
              <a:cs typeface="Time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0713461" y="27454333"/>
            <a:ext cx="12032630" cy="31085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 smtClean="0">
                <a:latin typeface="Arial"/>
                <a:cs typeface="Arial"/>
              </a:rPr>
              <a:t>Check, check, check! to make sure you have caught all errors, typos, formatting issues, stray lines/objects/text, etc. in your document BEFORE coming to your appointment. It will save you time (and a headache) !</a:t>
            </a: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latin typeface="Arial"/>
                <a:cs typeface="Arial"/>
              </a:rPr>
              <a:t>Try to use colors, font and text sizes that allow the reader to easily move through the work. This, for example: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395558" y="30638831"/>
            <a:ext cx="7970848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/>
                <a:cs typeface="Comic Sans MS"/>
              </a:rPr>
              <a:t>DoEs</a:t>
            </a:r>
            <a:r>
              <a:rPr lang="en-US" sz="28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/>
                <a:cs typeface="Comic Sans MS"/>
              </a:rPr>
              <a:t> </a:t>
            </a:r>
            <a:r>
              <a:rPr lang="en-US" sz="2800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/>
                <a:cs typeface="Comic Sans MS"/>
              </a:rPr>
              <a:t>nOt</a:t>
            </a:r>
            <a:r>
              <a:rPr lang="en-US" sz="28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/>
                <a:cs typeface="Comic Sans MS"/>
              </a:rPr>
              <a:t> </a:t>
            </a:r>
            <a:r>
              <a:rPr lang="en-US" sz="2800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/>
                <a:cs typeface="Comic Sans MS"/>
              </a:rPr>
              <a:t>WoRk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  <a:latin typeface="Comic Sans MS"/>
              <a:cs typeface="Comic Sans M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2395558" y="31535098"/>
            <a:ext cx="7970848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lackoak Std"/>
                <a:cs typeface="Blackoak Std"/>
              </a:rPr>
              <a:t>DOES NOT WORK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Blackoak Std"/>
              <a:cs typeface="Blackoak Std"/>
            </a:endParaRPr>
          </a:p>
        </p:txBody>
      </p:sp>
    </p:spTree>
    <p:extLst>
      <p:ext uri="{BB962C8B-B14F-4D97-AF65-F5344CB8AC3E}">
        <p14:creationId xmlns:p14="http://schemas.microsoft.com/office/powerpoint/2010/main" val="3320106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809</Words>
  <Application>Microsoft Office PowerPoint</Application>
  <PresentationFormat>Custom</PresentationFormat>
  <Paragraphs>91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Blackoak Std</vt:lpstr>
      <vt:lpstr>Calibri</vt:lpstr>
      <vt:lpstr>Comic Sans MS</vt:lpstr>
      <vt:lpstr>Times</vt:lpstr>
      <vt:lpstr>Wingdings</vt:lpstr>
      <vt:lpstr>Office Theme</vt:lpstr>
      <vt:lpstr>PowerPoint Presentation</vt:lpstr>
    </vt:vector>
  </TitlesOfParts>
  <Company>University of Pennsylvania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Biomedical Library</dc:creator>
  <cp:lastModifiedBy>Varvara Kountouzi</cp:lastModifiedBy>
  <cp:revision>28</cp:revision>
  <cp:lastPrinted>2011-08-12T16:33:48Z</cp:lastPrinted>
  <dcterms:created xsi:type="dcterms:W3CDTF">2011-08-12T13:36:59Z</dcterms:created>
  <dcterms:modified xsi:type="dcterms:W3CDTF">2016-08-23T19:23:27Z</dcterms:modified>
</cp:coreProperties>
</file>