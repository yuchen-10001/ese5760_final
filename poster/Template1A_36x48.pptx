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741" autoAdjust="0"/>
  </p:normalViewPr>
  <p:slideViewPr>
    <p:cSldViewPr snapToGrid="0" snapToObjects="1">
      <p:cViewPr varScale="1">
        <p:scale>
          <a:sx n="23" d="100"/>
          <a:sy n="23" d="100"/>
        </p:scale>
        <p:origin x="1404" y="6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A93E9-08CE-5846-AE29-C9A2010B8487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5DAA5-FAA5-B145-92CC-ABE87913B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8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3" y="36865561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3" y="36865561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1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1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8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1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5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0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9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1"/>
            <a:ext cx="47404019" cy="1348206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1"/>
            <a:ext cx="141480543" cy="1348206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29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4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nn_Blue_Gradient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44145183" cy="3317235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66316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19601" y="1080831"/>
            <a:ext cx="35102800" cy="3784876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519397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30167605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-6959600" y="16459200"/>
            <a:ext cx="18466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271481" y="7137155"/>
            <a:ext cx="799499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Motivation &amp; Scope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9419" y="19328256"/>
            <a:ext cx="6306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Methodology &amp; Experiment Matrix</a:t>
            </a:r>
            <a:endParaRPr lang="en-US" sz="5400" b="1" dirty="0">
              <a:latin typeface="Arial"/>
              <a:cs typeface="Arial"/>
            </a:endParaRPr>
          </a:p>
        </p:txBody>
      </p:sp>
      <p:pic>
        <p:nvPicPr>
          <p:cNvPr id="43" name="Picture 42" descr="chloroplastsfigure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35" y="14090168"/>
            <a:ext cx="4737100" cy="4419600"/>
          </a:xfrm>
          <a:prstGeom prst="rect">
            <a:avLst/>
          </a:prstGeom>
        </p:spPr>
      </p:pic>
      <p:pic>
        <p:nvPicPr>
          <p:cNvPr id="47" name="Picture 46" descr="images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35" y="15539112"/>
            <a:ext cx="2641600" cy="2425700"/>
          </a:xfrm>
          <a:prstGeom prst="rect">
            <a:avLst/>
          </a:prstGeom>
        </p:spPr>
      </p:pic>
      <p:pic>
        <p:nvPicPr>
          <p:cNvPr id="48" name="Picture 47" descr="images (1)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419" y="25240911"/>
            <a:ext cx="6080344" cy="558577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58433" y="1386007"/>
            <a:ext cx="36086367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600" b="1">
                <a:solidFill>
                  <a:srgbClr val="102E66"/>
                </a:solidFill>
                <a:latin typeface="Arial"/>
              </a:rPr>
              <a:t>Comparative Analysis of 2D/3D SRAM and eDRAM Across Process Nodes Using DESTINY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38176" y="2743285"/>
            <a:ext cx="200660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800" b="0">
                <a:solidFill>
                  <a:srgbClr val="102E66"/>
                </a:solidFill>
                <a:latin typeface="Arial"/>
              </a:rPr>
              <a:t>Tiebing Tang  •  Yishu Wang  •  Zhengyu Liu</a:t>
            </a:r>
            <a:endParaRPr lang="en-US" sz="4800" dirty="0">
              <a:latin typeface="Arial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25273" y="3574282"/>
            <a:ext cx="24548903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400" b="0">
                <a:solidFill>
                  <a:srgbClr val="102E66"/>
                </a:solidFill>
                <a:latin typeface="Arial"/>
              </a:rPr>
              <a:t>ESE5760 Final Project  •  Proposal-guided poster scope  •  Conclusions derived from Doc/Analysis_Full.md</a:t>
            </a:r>
            <a:endParaRPr lang="en-US" sz="4800" dirty="0">
              <a:latin typeface="Arial"/>
              <a:cs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96814" y="18298524"/>
            <a:ext cx="604520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Arial"/>
              </a:rPr>
              <a:t>22 runs total: enough for comparative trends, small enough to explain clearly.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01783" y="7586690"/>
            <a:ext cx="11906577" cy="69865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The proposal framed this project around one question: which memory trends are robust, and which are highly assumption-dependent in DESTINY?</a:t>
            </a:r>
            <a:endParaRPr lang="en-US" sz="2800" dirty="0" smtClean="0">
              <a:latin typeface="Arial"/>
              <a:cs typeface="Arial"/>
            </a:endParaRP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We therefore narrowed the poster to the most stable and interpretable comparisons:</a:t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• fixed-capacity cross-technology comparison,</a:t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• node-scaling trends across 65/45/32/22 nm,</a:t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• 2D/3D benefit and TSV-sensitive robustness.</a:t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The poster intentionally favors a few strong analytical results over exhaustive coverage of every simulation output.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1783" y="20482977"/>
            <a:ext cx="1190657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400" b="0">
                <a:solidFill>
                  <a:srgbClr val="111111"/>
                </a:solidFill>
                <a:latin typeface="Arial"/>
              </a:rPr>
              <a:t>All runs share a normalized baseline: 2 MB capacity, 256-bit word width, 1-way associativity, LOP roadmap, 350 K, and WriteEDP optimization.</a:t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Experiment 1 compares 2D SRAM, 3D SRAM, 2D eDRAM, and 3D eDRAM across four nodes (16 runs).</a:t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Experiment 2 fixes 3D SRAM at 32 nm and sweeps LocalTSVProjection, GlobalTSVProjection, and TSVRedundancy (6 runs).</a:t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Because DESTINY optimizes for WriteEDP, some anomalies are organizational effects rather than pure device limits.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83" y="31075868"/>
            <a:ext cx="898544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Arial"/>
              </a:rPr>
              <a:t>Proposal filter: we keep the stable poster-ready experiments and defer broader sensitivity work to the full writeup.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803081" y="7137155"/>
            <a:ext cx="6306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Cross-Technology Results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739018" y="12887888"/>
            <a:ext cx="6306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Why 32 nm Is the Best Comparison Point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5925797" y="7586580"/>
            <a:ext cx="12065003" cy="50783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At the poster level, three trends are the most defensible:</a:t>
            </a: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1. eDRAM scales more aggressively than SRAM, and 3D eDRAM becomes the smallest design by 22 nm (0.550 mm^2).</a:t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2. 3D SRAM consistently saves roughly 42-50% area over 2D SRAM, so the stacking benefit is robust for SRAM.</a:t>
            </a:r>
          </a:p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3. At 32 nm, 3D eDRAM wins the active metrics (area, read latency, write energy), while 2D eDRAM remains the best leakage option.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25797" y="14333945"/>
            <a:ext cx="12065003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300" b="0">
                <a:solidFill>
                  <a:srgbClr val="111111"/>
                </a:solidFill>
                <a:latin typeface="Arial"/>
              </a:rPr>
              <a:t>32 nm is the cleanest fixed-capacity comparison node: it avoids the extreme 65 nm H-tree penalty while still preserving strong technology separation.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The 32 nm scorecard shows a useful split: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• 3D eDRAM is best when active performance matters.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• 2D eDRAM is best when standby leakage dominates.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• 3D SRAM is a balanced compromise if refresh complexity is undesirable.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75417" y="20569265"/>
            <a:ext cx="825515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Interpretation of the Anomalies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5925797" y="21842922"/>
            <a:ext cx="12032630" cy="9694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300" b="0">
                <a:solidFill>
                  <a:srgbClr val="111111"/>
                </a:solidFill>
                <a:latin typeface="Arial"/>
              </a:rPr>
              <a:t>Two non-monotonic SRAM behaviors need interpretation rather than blind reporting.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The 65 nm SRAM latency spike is caused by large-array H-tree delay under a WriteEDP-selected organization; it is not a fundamental SRAM speed limit.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The 32 nm SRAM leakage spike (234.6 mW for both 2D and 3D SRAM) indicates that DESTINY converged to a high-parallelism organization that favors WriteEDP at the cost of standby power.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This distinction matters because the proposal explicitly asked for robust trends versus assumption-sensitive conclusions. The area ordering and eDRAM leakage advantage are robust. The exact SRAM anomaly magnitudes depend on the optimizer target.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835882" y="7137155"/>
            <a:ext cx="7550118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TSV Sensitivity &amp; 3D Robustness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3229019" y="15997535"/>
            <a:ext cx="6306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Key Conclusions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3381419" y="26480022"/>
            <a:ext cx="682005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000" b="1">
                <a:solidFill>
                  <a:srgbClr val="102E66"/>
                </a:solidFill>
                <a:latin typeface="Arial"/>
              </a:rPr>
              <a:t>Limits &amp; Design Implications</a:t>
            </a:r>
            <a:endParaRPr lang="en-US" sz="5400" b="1" dirty="0">
              <a:latin typeface="Arial"/>
              <a:cs typeface="Arial"/>
            </a:endParaRPr>
          </a:p>
        </p:txBody>
      </p:sp>
      <p:pic>
        <p:nvPicPr>
          <p:cNvPr id="74" name="Picture 73" descr="2 Smilax root cortex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419" y="10831938"/>
            <a:ext cx="7074056" cy="470717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0731976" y="8060485"/>
            <a:ext cx="11838424" cy="40934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300" b="0">
                <a:solidFill>
                  <a:srgbClr val="111111"/>
                </a:solidFill>
                <a:latin typeface="Arial"/>
              </a:rPr>
              <a:t>The TSV experiment answers the proposal's third research question directly.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LocalTSVProjection is the only first-order area knob, and even there the maximum penalty is only +5.5%. GlobalTSVProjection and TSVRedundancy remain below 1% area impact.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Read latency is unchanged across all TSV sweeps, so the critical path at this 2 MB scale is not TSV-limited.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Practical implication: conservative TSV assumptions are acceptable for this class of cache without materially changing the system-level conclusion.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746704" y="17105906"/>
            <a:ext cx="12032630" cy="91409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300" b="0">
                <a:solidFill>
                  <a:srgbClr val="111111"/>
                </a:solidFill>
                <a:latin typeface="Arial"/>
              </a:rPr>
              <a:t>1. Node scaling helps every technology, but eDRAM gains more from scaling than SRAM.</a:t>
            </a: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2. 3D stacking gives a clear and repeatable area benefit for SRAM; for eDRAM it becomes beneficial only after TSV overhead stops dominating.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3. At 32 nm, 3D eDRAM is the strongest active design point, while 2D eDRAM is the most attractive low-leakage option.</a:t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111111"/>
                </a:solidFill>
                <a:latin typeface="Arial"/>
              </a:rPr>
              <a:t>4. The main 3D conclusion is robust even when TSV assumptions are made more conservative.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1" y="17664119"/>
            <a:ext cx="1015999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200" b="0">
                <a:solidFill>
                  <a:srgbClr val="D86A00"/>
                </a:solidFill>
                <a:latin typeface="Arial"/>
              </a:rPr>
              <a:t>Full writeup: Doc/Analysis_Full.md</a:t>
            </a:r>
            <a:endParaRPr lang="en-US" sz="2800" dirty="0">
              <a:solidFill>
                <a:srgbClr val="FF0000"/>
              </a:solidFill>
              <a:latin typeface="Times"/>
              <a:cs typeface="Time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0713461" y="27454333"/>
            <a:ext cx="12032630" cy="31085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sz="1250" b="0">
                <a:solidFill>
                  <a:srgbClr val="111111"/>
                </a:solidFill>
                <a:latin typeface="Arial"/>
              </a:rPr>
              <a:t>DESTINY does not include eDRAM refresh energy, so the eDRAM advantage here is strongest on active metrics rather than full-system power.</a:t>
            </a:r>
          </a:p>
          <a:p>
            <a:pPr algn="l"/>
            <a:r>
              <a:rPr sz="125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250" b="0">
                <a:solidFill>
                  <a:srgbClr val="111111"/>
                </a:solidFill>
                <a:latin typeface="Arial"/>
              </a:rPr>
              <a:t>22 nm should be interpreted as a model projection, not silicon validation.</a:t>
            </a:r>
          </a:p>
          <a:p>
            <a:pPr algn="l"/>
            <a:r>
              <a:rPr sz="125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250" b="0">
                <a:solidFill>
                  <a:srgbClr val="111111"/>
                </a:solidFill>
                <a:latin typeface="Arial"/>
              </a:rPr>
              <a:t>All reported trends are under a single optimization target (WriteEDP). A ReadLatency objective would likely weaken the SRAM anomalies and strengthen some 3D latency gains.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395558" y="30638831"/>
            <a:ext cx="797084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sz="1200" b="1">
                <a:solidFill>
                  <a:srgbClr val="102E66"/>
                </a:solidFill>
                <a:latin typeface="Arial"/>
              </a:rPr>
              <a:t>ROBUST TRENDS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Comic Sans MS"/>
              <a:cs typeface="Comic Sans M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395558" y="31535098"/>
            <a:ext cx="797084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sz="1200" b="1">
                <a:solidFill>
                  <a:srgbClr val="102E66"/>
                </a:solidFill>
                <a:latin typeface="Arial"/>
              </a:rPr>
              <a:t>ASSUMPTION-SENSITIVE DETAILS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Blackoak Std"/>
              <a:cs typeface="Blackoak Std"/>
            </a:endParaRPr>
          </a:p>
        </p:txBody>
      </p:sp>
      <p:pic>
        <p:nvPicPr>
          <p:cNvPr id="81" name="Picture 80" descr="experiment_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5435" y="14090168"/>
            <a:ext cx="4737100" cy="4419600"/>
          </a:xfrm>
          <a:prstGeom prst="rect">
            <a:avLst/>
          </a:prstGeom>
        </p:spPr>
      </p:pic>
      <p:pic>
        <p:nvPicPr>
          <p:cNvPr id="82" name="Picture 81" descr="run_sum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3735" y="15539112"/>
            <a:ext cx="2641600" cy="2425700"/>
          </a:xfrm>
          <a:prstGeom prst="rect">
            <a:avLst/>
          </a:prstGeom>
        </p:spPr>
      </p:pic>
      <p:pic>
        <p:nvPicPr>
          <p:cNvPr id="83" name="Picture 82" descr="main_results_pa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9419" y="25240911"/>
            <a:ext cx="6080344" cy="5585771"/>
          </a:xfrm>
          <a:prstGeom prst="rect">
            <a:avLst/>
          </a:prstGeom>
        </p:spPr>
      </p:pic>
      <p:pic>
        <p:nvPicPr>
          <p:cNvPr id="84" name="Picture 83" descr="tsv_results_pan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27419" y="10831938"/>
            <a:ext cx="7074056" cy="470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0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809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Blackoak Std</vt:lpstr>
      <vt:lpstr>Calibri</vt:lpstr>
      <vt:lpstr>Comic Sans MS</vt:lpstr>
      <vt:lpstr>Times</vt:lpstr>
      <vt:lpstr>Wingdings</vt:lpstr>
      <vt:lpstr>Office Theme</vt:lpstr>
      <vt:lpstr>PowerPoint Presentation</vt:lpstr>
    </vt:vector>
  </TitlesOfParts>
  <Company>University of Pennsylvania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Biomedical Library</dc:creator>
  <cp:lastModifiedBy>Varvara Kountouzi</cp:lastModifiedBy>
  <cp:revision>28</cp:revision>
  <cp:lastPrinted>2011-08-12T16:33:48Z</cp:lastPrinted>
  <dcterms:created xsi:type="dcterms:W3CDTF">2011-08-12T13:36:59Z</dcterms:created>
  <dcterms:modified xsi:type="dcterms:W3CDTF">2016-08-23T19:23:27Z</dcterms:modified>
</cp:coreProperties>
</file>